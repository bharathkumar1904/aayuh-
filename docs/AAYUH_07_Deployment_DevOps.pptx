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vOps" id="{12f6ee5b-a916-866a-2e2f-7e89d716952b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Say what this deck covers and that every detail comes from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which service is 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Honest: verify asset serving.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the README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pinning and why it matters for pickles.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OTA updates and the rollback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you can audit your own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as a plan, not as done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566928"/>
          </a:xfrm>
          <a:prstGeom prst="rect">
            <a:avLst/>
          </a:prstGeom>
          <a:solidFill>
            <a:srgbClr val="1771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6272"/>
                </a:solidFill>
              </a:rPr>
              <a:t>Deployment and DevOps  |  AAYUH  |  P. Bharath Kumar  |  2400030010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T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566928"/>
          </a:xfrm>
          <a:prstGeom prst="rect">
            <a:avLst/>
          </a:prstGeom>
          <a:solidFill>
            <a:srgbClr val="17714A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6272"/>
                </a:solidFill>
              </a:rPr>
              <a:t>Deployment and DevOps  |  AAYUH  |  P. Bharath Kumar  |  2400030010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7714A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8FB0FF"/>
                </a:solidFill>
              </a:rPr>
              <a:t>AAYUH · INTERVIEW DEEP-DIVE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801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2F4F7"/>
                </a:solidFill>
              </a:rPr>
              <a:t>Deployment and DevOps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651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D0DA"/>
                </a:solidFill>
              </a:rPr>
              <a:t>Three repositories, three runtimes: static web, Node proxy, Python ML container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7472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Deployment topology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Web on Vercel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Proxy on Render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ML service in Docker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Android with Capacitor and Capgo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Repo hygiene, testing and reliability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1264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0FF"/>
                </a:solidFill>
              </a:rPr>
              <a:t>P. Bharath Kumar  ·  Student ID 2400030010  ·  aayuh.vercel.app  ·  github.com/bharathkumar1904/AAYUH-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topology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484882" cy="937006"/>
          </a:xfrm>
          <a:prstGeom prst="roundRect">
            <a:avLst>
              <a:gd name="adj" fmla="val 7807"/>
            </a:avLst>
          </a:prstGeom>
          <a:solidFill>
            <a:srgbClr val="FFFFFF"/>
          </a:solidFill>
          <a:ln w="19050">
            <a:solidFill>
              <a:srgbClr val="2457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16736"/>
            <a:ext cx="2393442" cy="86385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57D6"/>
                </a:solidFill>
              </a:rPr>
              <a:t>Web (AAYUH-)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61B22"/>
                </a:solidFill>
              </a:rPr>
              <a:t>Static HTML on Vercel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033522" y="1565783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86272"/>
                </a:solidFill>
              </a:rPr>
              <a:t>→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417570" y="1280160"/>
            <a:ext cx="2484882" cy="937006"/>
          </a:xfrm>
          <a:prstGeom prst="roundRect">
            <a:avLst>
              <a:gd name="adj" fmla="val 7807"/>
            </a:avLst>
          </a:prstGeom>
          <a:solidFill>
            <a:srgbClr val="FFFFFF"/>
          </a:solidFill>
          <a:ln w="19050">
            <a:solidFill>
              <a:srgbClr val="B8520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63290" y="1316736"/>
            <a:ext cx="2393442" cy="86385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20A"/>
                </a:solidFill>
              </a:rPr>
              <a:t>Proxy (aayuh-proxy)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61B22"/>
                </a:solidFill>
              </a:rPr>
              <a:t>Node service on Render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02452" y="1565783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86272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286500" y="1280160"/>
            <a:ext cx="2484882" cy="937006"/>
          </a:xfrm>
          <a:prstGeom prst="roundRect">
            <a:avLst>
              <a:gd name="adj" fmla="val 7807"/>
            </a:avLst>
          </a:prstGeom>
          <a:solidFill>
            <a:srgbClr val="FFFFFF"/>
          </a:solidFill>
          <a:ln w="19050">
            <a:solidFill>
              <a:srgbClr val="1771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32220" y="1316736"/>
            <a:ext cx="2393442" cy="86385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714A"/>
                </a:solidFill>
              </a:rPr>
              <a:t>ML (aayuh-ml)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61B22"/>
                </a:solidFill>
              </a:rPr>
              <a:t>Docker image, host not stated in repo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771382" y="1565783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86272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155430" y="1280160"/>
            <a:ext cx="2484882" cy="937006"/>
          </a:xfrm>
          <a:prstGeom prst="roundRect">
            <a:avLst>
              <a:gd name="adj" fmla="val 7807"/>
            </a:avLst>
          </a:prstGeom>
          <a:solidFill>
            <a:srgbClr val="FFFFFF"/>
          </a:solidFill>
          <a:ln w="19050">
            <a:solidFill>
              <a:srgbClr val="6B3FA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01150" y="1316736"/>
            <a:ext cx="2393442" cy="86385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3FA0"/>
                </a:solidFill>
              </a:rPr>
              <a:t>Android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61B22"/>
                </a:solidFill>
              </a:rPr>
              <a:t>Capacitor APK + Capgo updates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2582926"/>
            <a:ext cx="3575304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582926"/>
            <a:ext cx="3575304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" y="2674366"/>
            <a:ext cx="3429000" cy="279806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Why three repos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Each part has its own runtime and release cycle: static files, Node, Python.</a:t>
            </a:r>
            <a:endParaRPr lang="en-US" sz="2300" dirty="0"/>
          </a:p>
        </p:txBody>
      </p:sp>
      <p:sp>
        <p:nvSpPr>
          <p:cNvPr id="17" name="Shape 15"/>
          <p:cNvSpPr/>
          <p:nvPr/>
        </p:nvSpPr>
        <p:spPr>
          <a:xfrm>
            <a:off x="4306824" y="2582926"/>
            <a:ext cx="3575304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06824" y="2582926"/>
            <a:ext cx="3575304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379976" y="2674366"/>
            <a:ext cx="3429000" cy="279806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Wiring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Pages call the proxy URL; the proxy reads ML_API_URL and GROQ_API_KEY from its environment.</a:t>
            </a:r>
            <a:endParaRPr lang="en-US" sz="2300" dirty="0"/>
          </a:p>
        </p:txBody>
      </p:sp>
      <p:sp>
        <p:nvSpPr>
          <p:cNvPr id="20" name="Shape 18"/>
          <p:cNvSpPr/>
          <p:nvPr/>
        </p:nvSpPr>
        <p:spPr>
          <a:xfrm>
            <a:off x="8065008" y="2582926"/>
            <a:ext cx="3575304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65008" y="2582926"/>
            <a:ext cx="3575304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138160" y="2674366"/>
            <a:ext cx="3429000" cy="279806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Live URLs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aayuh.vercel.app (README also lists aayuh.co.in).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on Vercel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4754880" cy="3108960"/>
          </a:xfrm>
          <a:prstGeom prst="roundRect">
            <a:avLst>
              <a:gd name="adj" fmla="val 1765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53312"/>
            <a:ext cx="4572000" cy="2962656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vercel.json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version: 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builds: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src: *.html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use: @vercel/static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routes: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/(.*) -&gt; /$1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0" y="1280160"/>
            <a:ext cx="6153912" cy="126678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0" y="1280160"/>
            <a:ext cx="6153912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559552" y="1371600"/>
            <a:ext cx="6007608" cy="1138767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100" b="1" dirty="0">
                <a:solidFill>
                  <a:srgbClr val="2457D6"/>
                </a:solidFill>
              </a:rPr>
              <a:t>What it does</a:t>
            </a:r>
            <a:endParaRPr lang="en-US" sz="2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900" dirty="0">
                <a:solidFill>
                  <a:srgbClr val="161B22"/>
                </a:solidFill>
              </a:rPr>
              <a:t>Serves the HTML pages as static files on a CDN with automatic deploys from GitHub.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486400" y="2729823"/>
            <a:ext cx="6153912" cy="1855555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0" y="2729823"/>
            <a:ext cx="6153912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559552" y="2821263"/>
            <a:ext cx="6007608" cy="1727539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100" b="1" dirty="0">
                <a:solidFill>
                  <a:srgbClr val="B8520A"/>
                </a:solidFill>
              </a:rPr>
              <a:t>Check this</a:t>
            </a:r>
            <a:endParaRPr lang="en-US" sz="2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900" dirty="0">
                <a:solidFill>
                  <a:srgbClr val="161B22"/>
                </a:solidFill>
              </a:rPr>
              <a:t>The build matches only *.html. Confirm in the browser network tab that style.css, script.js, manifest.json and service-worker.js load on the live site.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486400" y="4768257"/>
            <a:ext cx="6153912" cy="126678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0" y="4768257"/>
            <a:ext cx="6153912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59552" y="4859697"/>
            <a:ext cx="6007608" cy="1138767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100" b="1" dirty="0">
                <a:solidFill>
                  <a:srgbClr val="2457D6"/>
                </a:solidFill>
              </a:rPr>
              <a:t>Other files</a:t>
            </a:r>
            <a:endParaRPr lang="en-US" sz="2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900" dirty="0">
                <a:solidFill>
                  <a:srgbClr val="161B22"/>
                </a:solidFill>
              </a:rPr>
              <a:t>ads.txt (AdSense) and CNAME for the custom domain are in the repo root.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on Render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3850002"/>
                <a:gridCol w="7241670"/>
              </a:tblGrid>
              <a:tr h="4617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Setting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1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14A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npm start (node server.js)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Starts the HTTP server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GROQ_API_KEY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Secret for Groq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GROQ_MODEL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Chooses the LLM (default openai/gpt-oss-20b)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ML_API_URL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HTTPS URL of the ML service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PORT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Listening port, default 3001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RENDER_EXTERNAL_URL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Enables the 14-minute keep-alive ping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5303520"/>
            <a:ext cx="11091672" cy="502920"/>
          </a:xfrm>
          <a:prstGeom prst="rect">
            <a:avLst/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5303520"/>
            <a:ext cx="73152" cy="502920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303520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1B22"/>
                </a:solidFill>
              </a:rPr>
              <a:t>Fix: the README Deployment section still contains unresolved merge-conflict markers (&lt;&lt;&lt;&lt;&lt;&lt;&lt; HEAD).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service in Docker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75304" cy="254012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3575304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71600"/>
            <a:ext cx="3429000" cy="2412111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Image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python:3.11-slim, gcc installed, pinned requirements (FastAPI 0.109, scikit-learn 1.4, pandas 2.2, NumPy 1.26).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4306824" y="1280160"/>
            <a:ext cx="3575304" cy="254012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06824" y="1280160"/>
            <a:ext cx="3575304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79976" y="1371600"/>
            <a:ext cx="3429000" cy="2412111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Run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uvicorn api.main:app on port 5000; artifacts are copied into the image.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8065008" y="1280160"/>
            <a:ext cx="3575304" cy="254012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65008" y="1280160"/>
            <a:ext cx="3575304" cy="64008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0" y="1371600"/>
            <a:ext cx="3429000" cy="2412111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3261E"/>
                </a:solidFill>
              </a:rPr>
              <a:t>Health check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curl is not installed in the slim image, so the HEALTHCHECK would fail. Install curl or use a Python one-liner.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548640" y="4003167"/>
            <a:ext cx="3575304" cy="221475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4003167"/>
            <a:ext cx="3575304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4094607"/>
            <a:ext cx="3429000" cy="2086737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8520A"/>
                </a:solidFill>
              </a:rPr>
              <a:t>Cold start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Loading the pickled model happens at start-up, so the first request after a sleep is slow.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4306824" y="4003167"/>
            <a:ext cx="3575304" cy="221475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06824" y="4003167"/>
            <a:ext cx="3575304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79976" y="4094607"/>
            <a:ext cx="3429000" cy="2086737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Hygiene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__pycache__ and .npy data files are committed; add them to .gitignore.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8065008" y="4003167"/>
            <a:ext cx="3575304" cy="221475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65008" y="4003167"/>
            <a:ext cx="3575304" cy="640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38160" y="4094607"/>
            <a:ext cx="3429000" cy="2086737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6B3FA0"/>
                </a:solidFill>
              </a:rPr>
              <a:t>Version risk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The pickle was made with one scikit-learn version; keep the same version in the image.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with Capacitor and Capgo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75304" cy="221475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3575304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71600"/>
            <a:ext cx="3429000" cy="2086737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Wrapper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Capacitor 8 packages the www folder. App id com.aayuh.health, name Aayuh, https scheme.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4306824" y="1280160"/>
            <a:ext cx="3575304" cy="221475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06824" y="1280160"/>
            <a:ext cx="3575304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79976" y="1371600"/>
            <a:ext cx="3429000" cy="2086737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SDK levels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minSdk 24 (Android 7.0), targetSdk 35, versionCode 1, versionName 1.0.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8065008" y="1280160"/>
            <a:ext cx="3575304" cy="221475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65008" y="1280160"/>
            <a:ext cx="3575304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0" y="1371600"/>
            <a:ext cx="3429000" cy="2086737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Live updates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Capgo updater with autoUpdate; index.html calls notifyAppReady so a bad update can roll back.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548640" y="3677793"/>
            <a:ext cx="3575304" cy="254012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677793"/>
            <a:ext cx="3575304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3769233"/>
            <a:ext cx="3429000" cy="2412111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8520A"/>
                </a:solidFill>
              </a:rPr>
              <a:t>Distribution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The login page offers an APK download (v1.0.0). APK and AAB files are gitignored.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4306824" y="3677793"/>
            <a:ext cx="3575304" cy="254012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06824" y="3677793"/>
            <a:ext cx="3575304" cy="64008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79976" y="3769233"/>
            <a:ext cx="3429000" cy="2412111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3261E"/>
                </a:solidFill>
              </a:rPr>
              <a:t>Sync risk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The app uses www/, the website uses the root copy. They have drifted, so users may see different code.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8065008" y="3677793"/>
            <a:ext cx="3575304" cy="254012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65008" y="3677793"/>
            <a:ext cx="3575304" cy="640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38160" y="3769233"/>
            <a:ext cx="3429000" cy="2412111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6B3FA0"/>
                </a:solidFill>
              </a:rPr>
              <a:t>Fix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One source folder, a build step that copies to www, and a release checklist.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hygiene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4033335"/>
                <a:gridCol w="4033335"/>
                <a:gridCol w="3025001"/>
              </a:tblGrid>
              <a:tr h="4617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Finding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1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Why it matters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1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Action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14A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Root vs www copies differ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Bugs fixed in one place stay in the other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Single source of truth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829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Root package.json says Infermedica and lists express, axios, groq-sdk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Description does not match the code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Clean dependencies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www/server.js is an older proxy copy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Confusion about which server is real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Remove or document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One commit per repo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No history for review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Commit in small steps from now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61B22"/>
                          </a:solidFill>
                        </a:rPr>
                        <a:t>README conflict markers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Looks unfinished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61B22"/>
                          </a:solidFill>
                        </a:rPr>
                        <a:t>Resolve</a:t>
                      </a:r>
                      <a:endParaRPr lang="en-US" sz="1800" dirty="0"/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CI/CD and reliability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75304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3575304" cy="64008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71600"/>
            <a:ext cx="3429000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3261E"/>
                </a:solidFill>
              </a:rPr>
              <a:t>Today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Manual testing. No test files or CI workflows in the repositories.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4306824" y="1280160"/>
            <a:ext cx="3575304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06824" y="1280160"/>
            <a:ext cx="3575304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79976" y="1371600"/>
            <a:ext cx="3429000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ML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pytest for triage rules and inference output shapes; a fixed test of known symptom sets.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8065008" y="1280160"/>
            <a:ext cx="3575304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65008" y="1280160"/>
            <a:ext cx="3575304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0" y="1371600"/>
            <a:ext cx="3429000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8520A"/>
                </a:solidFill>
              </a:rPr>
              <a:t>Proxy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Route tests with mocked Groq and ML servers.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3575304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840480"/>
            <a:ext cx="3575304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3931920"/>
            <a:ext cx="3429000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Web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Playwright flows: login, symptom check, history upload; Lighthouse for performance.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4306824" y="3840480"/>
            <a:ext cx="3575304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06824" y="3840480"/>
            <a:ext cx="3575304" cy="640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79976" y="3931920"/>
            <a:ext cx="3429000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6B3FA0"/>
                </a:solidFill>
              </a:rPr>
              <a:t>CI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GitHub Actions on each repo: lint, test, Docker build.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8065008" y="3840480"/>
            <a:ext cx="3575304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65008" y="3840480"/>
            <a:ext cx="3575304" cy="640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38160" y="3931920"/>
            <a:ext cx="3429000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334155"/>
                </a:solidFill>
              </a:rPr>
              <a:t>Reliability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Two free-tier hops add latency. Use health checks, timeouts and the LLM fallback.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siArts">
  <a:themeElements>
    <a:clrScheme name="SasiArts">
      <a:dk1>
        <a:srgbClr val="161B22"/>
      </a:dk1>
      <a:lt1>
        <a:srgbClr val="FFFFFF"/>
      </a:lt1>
      <a:dk2>
        <a:srgbClr val="334155"/>
      </a:dk2>
      <a:lt2>
        <a:srgbClr val="F6F7F9"/>
      </a:lt2>
      <a:accent1>
        <a:srgbClr val="2457D6"/>
      </a:accent1>
      <a:accent2>
        <a:srgbClr val="B8520A"/>
      </a:accent2>
      <a:accent3>
        <a:srgbClr val="17714A"/>
      </a:accent3>
      <a:accent4>
        <a:srgbClr val="6B3FA0"/>
      </a:accent4>
      <a:accent5>
        <a:srgbClr val="B3261E"/>
      </a:accent5>
      <a:accent6>
        <a:srgbClr val="0E7490"/>
      </a:accent6>
      <a:hlink>
        <a:srgbClr val="2457D6"/>
      </a:hlink>
      <a:folHlink>
        <a:srgbClr val="6B3FA0"/>
      </a:folHlink>
    </a:clrScheme>
    <a:fontScheme name="SasiArt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Deployment and DevOps – AAYUH</dc:title>
  <dc:subject>PptxGenJS Presentation</dc:subject>
  <dc:creator>P. Bharath Kumar</dc:creator>
  <cp:lastModifiedBy>P. Bharath Kumar</cp:lastModifiedBy>
  <cp:revision>1</cp:revision>
  <dcterms:created xsi:type="dcterms:W3CDTF">2026-10-08T05:01:29Z</dcterms:created>
  <dcterms:modified xsi:type="dcterms:W3CDTF">2026-10-08T05:01:29Z</dcterms:modified>
</cp:coreProperties>
</file>