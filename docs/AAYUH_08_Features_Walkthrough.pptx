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eatures" id="{e9830205-4f6e-7f5b-22f5-5f7a38547c7f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Say what this deck covers and that every detail comes from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the demo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accuracy disclaimers.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signature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labelling issue yourself.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to the security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tour of the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272"/>
                </a:solidFill>
              </a:rPr>
              <a:t>Features Walkthrough  |  AAYUH  |  P. Bharath Kumar  |  2400030010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T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272"/>
                </a:solidFill>
              </a:rPr>
              <a:t>Features Walkthrough  |  AAYUH  |  P. Bharath Kumar  |  2400030010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766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8FB0FF"/>
                </a:solidFill>
              </a:rPr>
              <a:t>AAYUH · INTERVIEW DEEP-DIVE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2F4F7"/>
                </a:solidFill>
              </a:rPr>
              <a:t>Features Walkthrough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51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0DA"/>
                </a:solidFill>
              </a:rPr>
              <a:t>A screen-by-screen tour with the code behind each feature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747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Landing and accounts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Dashboard and trackers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Symptom checker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Disease and medicine information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Medical history and emergency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Chatbot, pharmacy and profile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26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0FF"/>
                </a:solidFill>
              </a:rPr>
              <a:t>P. Bharath Kumar  ·  Student ID 2400030010  ·  aayuh.vercel.app  ·  github.com/bharathkumar1904/AAYUH-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and accounts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0" cy="2651760"/>
          </a:xfrm>
          <a:prstGeom prst="rect">
            <a:avLst/>
          </a:prstGeom>
          <a:solidFill>
            <a:srgbClr val="E8EBF0"/>
          </a:solidFill>
          <a:ln w="9525">
            <a:solidFill>
              <a:srgbClr val="D9DEE5"/>
            </a:solidFill>
            <a:prstDash val="solid"/>
          </a:ln>
        </p:spPr>
      </p:sp>
      <p:pic>
        <p:nvPicPr>
          <p:cNvPr id="4" name="Image 0" descr="la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9304"/>
            <a:ext cx="5486400" cy="2633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959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272"/>
                </a:solidFill>
              </a:rPr>
              <a:t>Landing page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153912" y="1280160"/>
            <a:ext cx="5486400" cy="2651760"/>
          </a:xfrm>
          <a:prstGeom prst="rect">
            <a:avLst/>
          </a:prstGeom>
          <a:solidFill>
            <a:srgbClr val="E8EBF0"/>
          </a:solidFill>
          <a:ln w="9525">
            <a:solidFill>
              <a:srgbClr val="D9DEE5"/>
            </a:solidFill>
            <a:prstDash val="solid"/>
          </a:ln>
        </p:spPr>
      </p:sp>
      <p:pic>
        <p:nvPicPr>
          <p:cNvPr id="7" name="Image 1" descr="log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912" y="1297876"/>
            <a:ext cx="5486400" cy="261632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153912" y="3959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272"/>
                </a:solidFill>
              </a:rPr>
              <a:t>Login with APK download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48640" y="4434840"/>
            <a:ext cx="3575304" cy="143205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48640" y="4434840"/>
            <a:ext cx="3575304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21792" y="4526280"/>
            <a:ext cx="3429000" cy="1304036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0F766E"/>
                </a:solidFill>
              </a:rPr>
              <a:t>Accounts</a:t>
            </a:r>
            <a:endParaRPr lang="en-US" sz="1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161B22"/>
                </a:solidFill>
              </a:rPr>
              <a:t>Email and password via Firebase; sign up checks a 6-character minimum with a strength bar.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4306824" y="4434840"/>
            <a:ext cx="3575304" cy="143205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306824" y="4434840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379976" y="4526280"/>
            <a:ext cx="3429000" cy="1304036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17714A"/>
                </a:solidFill>
              </a:rPr>
              <a:t>Android download</a:t>
            </a:r>
            <a:endParaRPr lang="en-US" sz="1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161B22"/>
                </a:solidFill>
              </a:rPr>
              <a:t>The login page links the APK (v1.0.0, Android 7.0+).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8065008" y="4434840"/>
            <a:ext cx="3575304" cy="143205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65008" y="4434840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138160" y="4526280"/>
            <a:ext cx="3429000" cy="1304036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457D6"/>
                </a:solidFill>
              </a:rPr>
              <a:t>Reset</a:t>
            </a:r>
            <a:endParaRPr lang="en-US" sz="1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161B22"/>
                </a:solidFill>
              </a:rPr>
              <a:t>Forgot password sends a reset email.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and trackers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0" cy="2651760"/>
          </a:xfrm>
          <a:prstGeom prst="rect">
            <a:avLst/>
          </a:prstGeom>
          <a:solidFill>
            <a:srgbClr val="E8EBF0"/>
          </a:solidFill>
          <a:ln w="9525">
            <a:solidFill>
              <a:srgbClr val="D9DEE5"/>
            </a:solidFill>
            <a:prstDash val="solid"/>
          </a:ln>
        </p:spPr>
      </p:sp>
      <p:pic>
        <p:nvPicPr>
          <p:cNvPr id="4" name="Image 0" descr="da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09878"/>
            <a:ext cx="5486400" cy="25923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959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272"/>
                </a:solidFill>
              </a:rPr>
              <a:t>Quick access and trackers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153912" y="1280160"/>
            <a:ext cx="5486400" cy="2651760"/>
          </a:xfrm>
          <a:prstGeom prst="rect">
            <a:avLst/>
          </a:prstGeom>
          <a:solidFill>
            <a:srgbClr val="E8EBF0"/>
          </a:solidFill>
          <a:ln w="9525">
            <a:solidFill>
              <a:srgbClr val="D9DEE5"/>
            </a:solidFill>
            <a:prstDash val="solid"/>
          </a:ln>
        </p:spPr>
      </p:sp>
      <p:pic>
        <p:nvPicPr>
          <p:cNvPr id="7" name="Image 1" descr="tra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912" y="1284161"/>
            <a:ext cx="5486400" cy="2643759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153912" y="3959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272"/>
                </a:solidFill>
              </a:rPr>
              <a:t>Steps, heart rate, blood pressure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48640" y="4434840"/>
            <a:ext cx="3575304" cy="1695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48640" y="4434840"/>
            <a:ext cx="3575304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21792" y="4526280"/>
            <a:ext cx="3429000" cy="156743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0F766E"/>
                </a:solidFill>
              </a:rPr>
              <a:t>Quick access</a:t>
            </a:r>
            <a:endParaRPr lang="en-US" sz="1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161B22"/>
                </a:solidFill>
              </a:rPr>
              <a:t>Six tiles: Medicines, Symptom Checker, Diseases, Medical History, Emergency, Find Doctors, plus a red emergency banner.</a:t>
            </a:r>
            <a:endParaRPr lang="en-US" sz="1900" dirty="0"/>
          </a:p>
        </p:txBody>
      </p:sp>
      <p:sp>
        <p:nvSpPr>
          <p:cNvPr id="12" name="Shape 8"/>
          <p:cNvSpPr/>
          <p:nvPr/>
        </p:nvSpPr>
        <p:spPr>
          <a:xfrm>
            <a:off x="4306824" y="4434840"/>
            <a:ext cx="3575304" cy="1695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306824" y="4434840"/>
            <a:ext cx="3575304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379976" y="4526280"/>
            <a:ext cx="3429000" cy="156743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B3261E"/>
                </a:solidFill>
              </a:rPr>
              <a:t>Trackers</a:t>
            </a:r>
            <a:endParaRPr lang="en-US" sz="1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161B22"/>
                </a:solidFill>
              </a:rPr>
              <a:t>Accelerometer steps, camera heart rate, manual or estimated BP.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8065008" y="4434840"/>
            <a:ext cx="3575304" cy="1695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65008" y="4434840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138160" y="4526280"/>
            <a:ext cx="3429000" cy="156743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17714A"/>
                </a:solidFill>
              </a:rPr>
              <a:t>Daily tips</a:t>
            </a:r>
            <a:endParaRPr lang="en-US" sz="1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161B22"/>
                </a:solidFill>
              </a:rPr>
              <a:t>Hydration, nutrition, sleep, exercise and more as cards.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checker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0" cy="2651760"/>
          </a:xfrm>
          <a:prstGeom prst="rect">
            <a:avLst/>
          </a:prstGeom>
          <a:solidFill>
            <a:srgbClr val="E8EBF0"/>
          </a:solidFill>
          <a:ln w="9525">
            <a:solidFill>
              <a:srgbClr val="D9DEE5"/>
            </a:solidFill>
            <a:prstDash val="solid"/>
          </a:ln>
        </p:spPr>
      </p:sp>
      <p:pic>
        <p:nvPicPr>
          <p:cNvPr id="4" name="Image 0" descr="symin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142" y="1280160"/>
            <a:ext cx="4741396" cy="2651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959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272"/>
                </a:solidFill>
              </a:rPr>
              <a:t>Describe symptoms or tap chips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153912" y="1280160"/>
            <a:ext cx="5486400" cy="2651760"/>
          </a:xfrm>
          <a:prstGeom prst="rect">
            <a:avLst/>
          </a:prstGeom>
          <a:solidFill>
            <a:srgbClr val="E8EBF0"/>
          </a:solidFill>
          <a:ln w="9525">
            <a:solidFill>
              <a:srgbClr val="D9DEE5"/>
            </a:solidFill>
            <a:prstDash val="solid"/>
          </a:ln>
        </p:spPr>
      </p:sp>
      <p:pic>
        <p:nvPicPr>
          <p:cNvPr id="7" name="Image 1" descr="symr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7488" y="1280160"/>
            <a:ext cx="2879248" cy="2651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153912" y="3959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272"/>
                </a:solidFill>
              </a:rPr>
              <a:t>Conditions with match % and care level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48640" y="4434840"/>
            <a:ext cx="3575304" cy="14940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48640" y="4434840"/>
            <a:ext cx="3575304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21792" y="4526280"/>
            <a:ext cx="3429000" cy="1366012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0F766E"/>
                </a:solidFill>
              </a:rPr>
              <a:t>Input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800" dirty="0">
                <a:solidFill>
                  <a:srgbClr val="161B22"/>
                </a:solidFill>
              </a:rPr>
              <a:t>Age, sex and free text or quick chips.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4306824" y="4434840"/>
            <a:ext cx="3575304" cy="14940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306824" y="4434840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379976" y="4526280"/>
            <a:ext cx="3429000" cy="1366012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7714A"/>
                </a:solidFill>
              </a:rPr>
              <a:t>Output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800" dirty="0">
                <a:solidFill>
                  <a:srgbClr val="161B22"/>
                </a:solidFill>
              </a:rPr>
              <a:t>Up to 5 conditions, symptom match %, remaining symptoms to watch, and a care badge.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8065008" y="4434840"/>
            <a:ext cx="3575304" cy="149402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65008" y="4434840"/>
            <a:ext cx="3575304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138160" y="4526280"/>
            <a:ext cx="3429000" cy="1366012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B8520A"/>
                </a:solidFill>
              </a:rPr>
              <a:t>Fallback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800" dirty="0">
                <a:solidFill>
                  <a:srgbClr val="161B22"/>
                </a:solidFill>
              </a:rPr>
              <a:t>LLM guidance when the model has no match.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information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0" cy="2651760"/>
          </a:xfrm>
          <a:prstGeom prst="rect">
            <a:avLst/>
          </a:prstGeom>
          <a:solidFill>
            <a:srgbClr val="E8EBF0"/>
          </a:solidFill>
          <a:ln w="9525">
            <a:solidFill>
              <a:srgbClr val="D9DEE5"/>
            </a:solidFill>
            <a:prstDash val="solid"/>
          </a:ln>
        </p:spPr>
      </p:sp>
      <p:pic>
        <p:nvPicPr>
          <p:cNvPr id="4" name="Image 0" descr="di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243" y="1280160"/>
            <a:ext cx="4751194" cy="2651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959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272"/>
                </a:solidFill>
              </a:rPr>
              <a:t>Search a condition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153912" y="1280160"/>
            <a:ext cx="5486400" cy="2651760"/>
          </a:xfrm>
          <a:prstGeom prst="rect">
            <a:avLst/>
          </a:prstGeom>
          <a:solidFill>
            <a:srgbClr val="E8EBF0"/>
          </a:solidFill>
          <a:ln w="9525">
            <a:solidFill>
              <a:srgbClr val="D9DEE5"/>
            </a:solidFill>
            <a:prstDash val="solid"/>
          </a:ln>
        </p:spPr>
      </p:sp>
      <p:pic>
        <p:nvPicPr>
          <p:cNvPr id="7" name="Image 1" descr="dis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2153" y="1280160"/>
            <a:ext cx="3789918" cy="2651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153912" y="3959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272"/>
                </a:solidFill>
              </a:rPr>
              <a:t>Symptoms, treatment, prevention, diet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48640" y="4434840"/>
            <a:ext cx="3575304" cy="167995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48640" y="4434840"/>
            <a:ext cx="3575304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21792" y="4526280"/>
            <a:ext cx="3429000" cy="155194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0F766E"/>
                </a:solidFill>
              </a:rPr>
              <a:t>Source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Wikipedia page summary, plus AI-generated tips under AI-powered advice.</a:t>
            </a:r>
            <a:endParaRPr lang="en-US" sz="2300" dirty="0"/>
          </a:p>
        </p:txBody>
      </p:sp>
      <p:sp>
        <p:nvSpPr>
          <p:cNvPr id="12" name="Shape 8"/>
          <p:cNvSpPr/>
          <p:nvPr/>
        </p:nvSpPr>
        <p:spPr>
          <a:xfrm>
            <a:off x="4306824" y="4434840"/>
            <a:ext cx="3575304" cy="167995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306824" y="4434840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379976" y="4526280"/>
            <a:ext cx="3429000" cy="155194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Nearby care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Buttons for hospitals, doctors and pharmacies.</a:t>
            </a:r>
            <a:endParaRPr lang="en-US" sz="2300" dirty="0"/>
          </a:p>
        </p:txBody>
      </p:sp>
      <p:sp>
        <p:nvSpPr>
          <p:cNvPr id="15" name="Shape 11"/>
          <p:cNvSpPr/>
          <p:nvPr/>
        </p:nvSpPr>
        <p:spPr>
          <a:xfrm>
            <a:off x="8065008" y="4434840"/>
            <a:ext cx="3575304" cy="1679956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65008" y="4434840"/>
            <a:ext cx="3575304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138160" y="4526280"/>
            <a:ext cx="3429000" cy="1551940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Label issue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AI tips are tagged Wikipedia in the UI. Relabel them as AI-generated.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history and emergency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86400" cy="2743200"/>
          </a:xfrm>
          <a:prstGeom prst="rect">
            <a:avLst/>
          </a:prstGeom>
          <a:solidFill>
            <a:srgbClr val="E8EBF0"/>
          </a:solidFill>
          <a:ln w="9525">
            <a:solidFill>
              <a:srgbClr val="D9DEE5"/>
            </a:solidFill>
            <a:prstDash val="solid"/>
          </a:ln>
        </p:spPr>
      </p:sp>
      <p:pic>
        <p:nvPicPr>
          <p:cNvPr id="4" name="Image 0" descr="h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412" y="1280160"/>
            <a:ext cx="3894855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050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272"/>
                </a:solidFill>
              </a:rPr>
              <a:t>Upload reports and filter by doctor, date, type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492240" y="1280160"/>
            <a:ext cx="2651760" cy="2743200"/>
          </a:xfrm>
          <a:prstGeom prst="rect">
            <a:avLst/>
          </a:prstGeom>
          <a:solidFill>
            <a:srgbClr val="E8EBF0"/>
          </a:solidFill>
          <a:ln w="9525">
            <a:solidFill>
              <a:srgbClr val="D9DEE5"/>
            </a:solidFill>
            <a:prstDash val="solid"/>
          </a:ln>
        </p:spPr>
      </p:sp>
      <p:pic>
        <p:nvPicPr>
          <p:cNvPr id="7" name="Image 1" descr="emer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947" y="1280160"/>
            <a:ext cx="2348345" cy="2743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92240" y="40507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272"/>
                </a:solidFill>
              </a:rPr>
              <a:t>Emergency contacts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9326880" y="1280160"/>
            <a:ext cx="2313432" cy="13081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326880" y="1280160"/>
            <a:ext cx="2313432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400032" y="1371600"/>
            <a:ext cx="2167128" cy="118008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0F766E"/>
                </a:solidFill>
              </a:rPr>
              <a:t>History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61B22"/>
                </a:solidFill>
              </a:rPr>
              <a:t>Many files become one report; filters by doctor, date and type; files stored in Firebase Storage.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9326880" y="2771140"/>
            <a:ext cx="2313432" cy="13081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326880" y="2771140"/>
            <a:ext cx="2313432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9400032" y="2862580"/>
            <a:ext cx="2167128" cy="118008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B3261E"/>
                </a:solidFill>
              </a:rPr>
              <a:t>Emergency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61B22"/>
                </a:solidFill>
              </a:rPr>
              <a:t>Default numbers (108, 1066, 112) plus user contacts with a Call button, stored per user.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48640" y="4572000"/>
            <a:ext cx="11091672" cy="502920"/>
          </a:xfrm>
          <a:prstGeom prst="rect">
            <a:avLst/>
          </a:prstGeom>
          <a:solidFill>
            <a:srgbClr val="E8EEFC"/>
          </a:solidFill>
          <a:ln w="12700">
            <a:solidFill>
              <a:srgbClr val="E8EEF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4572000"/>
            <a:ext cx="73152" cy="502920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731520" y="4572000"/>
            <a:ext cx="10817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1B22"/>
                </a:solidFill>
              </a:rPr>
              <a:t>Privacy note: reports are health data, so Firestore and Storage rules must restrict access to the owner.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Chatbot, pharmacy and profile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657600" cy="1920240"/>
          </a:xfrm>
          <a:prstGeom prst="rect">
            <a:avLst/>
          </a:prstGeom>
          <a:solidFill>
            <a:srgbClr val="E8EBF0"/>
          </a:solidFill>
          <a:ln w="9525">
            <a:solidFill>
              <a:srgbClr val="D9DEE5"/>
            </a:solidFill>
            <a:prstDash val="solid"/>
          </a:ln>
        </p:spPr>
      </p:sp>
      <p:pic>
        <p:nvPicPr>
          <p:cNvPr id="4" name="Image 0" descr="ch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0457"/>
            <a:ext cx="3657600" cy="173964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227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272"/>
                </a:solidFill>
              </a:rPr>
              <a:t>BBot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343400" y="1280160"/>
            <a:ext cx="3657600" cy="1920240"/>
          </a:xfrm>
          <a:prstGeom prst="rect">
            <a:avLst/>
          </a:prstGeom>
          <a:solidFill>
            <a:srgbClr val="E8EBF0"/>
          </a:solidFill>
          <a:ln w="9525">
            <a:solidFill>
              <a:srgbClr val="D9DEE5"/>
            </a:solidFill>
            <a:prstDash val="solid"/>
          </a:ln>
        </p:spPr>
      </p:sp>
      <p:pic>
        <p:nvPicPr>
          <p:cNvPr id="7" name="Image 1" descr="ppro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376172"/>
            <a:ext cx="3657600" cy="172821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343400" y="3227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272"/>
                </a:solidFill>
              </a:rPr>
              <a:t>Aayuh Rx pharmacy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8138160" y="1280160"/>
            <a:ext cx="3502152" cy="1920240"/>
          </a:xfrm>
          <a:prstGeom prst="rect">
            <a:avLst/>
          </a:prstGeom>
          <a:solidFill>
            <a:srgbClr val="E8EBF0"/>
          </a:solidFill>
          <a:ln w="9525">
            <a:solidFill>
              <a:srgbClr val="D9DEE5"/>
            </a:solidFill>
            <a:prstDash val="solid"/>
          </a:ln>
        </p:spPr>
      </p:sp>
      <p:pic>
        <p:nvPicPr>
          <p:cNvPr id="10" name="Image 2" descr="prof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385536"/>
            <a:ext cx="3502152" cy="170948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138160" y="3227832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272"/>
                </a:solidFill>
              </a:rPr>
              <a:t>Profile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548640" y="3749040"/>
            <a:ext cx="3575304" cy="233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48640" y="3749040"/>
            <a:ext cx="3575304" cy="640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21792" y="3840480"/>
            <a:ext cx="3429000" cy="22026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0F766E"/>
                </a:solidFill>
              </a:rPr>
              <a:t>BBot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Medical-only answers, attach PDFs and files, clear history.</a:t>
            </a:r>
            <a:endParaRPr lang="en-US" sz="2300" dirty="0"/>
          </a:p>
        </p:txBody>
      </p:sp>
      <p:sp>
        <p:nvSpPr>
          <p:cNvPr id="15" name="Shape 10"/>
          <p:cNvSpPr/>
          <p:nvPr/>
        </p:nvSpPr>
        <p:spPr>
          <a:xfrm>
            <a:off x="4306824" y="3749040"/>
            <a:ext cx="3575304" cy="233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4306824" y="3749040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4379976" y="3840480"/>
            <a:ext cx="3429000" cy="22026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Pharmacy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10 seeded products, categories, cart, buy links. Data in Supabase.</a:t>
            </a:r>
            <a:endParaRPr lang="en-US" sz="2300" dirty="0"/>
          </a:p>
        </p:txBody>
      </p:sp>
      <p:sp>
        <p:nvSpPr>
          <p:cNvPr id="18" name="Shape 13"/>
          <p:cNvSpPr/>
          <p:nvPr/>
        </p:nvSpPr>
        <p:spPr>
          <a:xfrm>
            <a:off x="8065008" y="3749040"/>
            <a:ext cx="3575304" cy="23307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065008" y="3749040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138160" y="3840480"/>
            <a:ext cx="3429000" cy="22026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Profile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Basics, height and weight with auto BMI, blood group, conditions, activity level, emergency contacts.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siArts">
  <a:themeElements>
    <a:clrScheme name="SasiArts">
      <a:dk1>
        <a:srgbClr val="161B22"/>
      </a:dk1>
      <a:lt1>
        <a:srgbClr val="FFFFFF"/>
      </a:lt1>
      <a:dk2>
        <a:srgbClr val="334155"/>
      </a:dk2>
      <a:lt2>
        <a:srgbClr val="F6F7F9"/>
      </a:lt2>
      <a:accent1>
        <a:srgbClr val="2457D6"/>
      </a:accent1>
      <a:accent2>
        <a:srgbClr val="B8520A"/>
      </a:accent2>
      <a:accent3>
        <a:srgbClr val="17714A"/>
      </a:accent3>
      <a:accent4>
        <a:srgbClr val="6B3FA0"/>
      </a:accent4>
      <a:accent5>
        <a:srgbClr val="B3261E"/>
      </a:accent5>
      <a:accent6>
        <a:srgbClr val="0E7490"/>
      </a:accent6>
      <a:hlink>
        <a:srgbClr val="2457D6"/>
      </a:hlink>
      <a:folHlink>
        <a:srgbClr val="6B3FA0"/>
      </a:folHlink>
    </a:clrScheme>
    <a:fontScheme name="SasiArt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Features Walkthrough – AAYUH</dc:title>
  <dc:subject>PptxGenJS Presentation</dc:subject>
  <dc:creator>P. Bharath Kumar</dc:creator>
  <cp:lastModifiedBy>P. Bharath Kumar</cp:lastModifiedBy>
  <cp:revision>1</cp:revision>
  <dcterms:created xsi:type="dcterms:W3CDTF">2026-10-08T05:01:29Z</dcterms:created>
  <dcterms:modified xsi:type="dcterms:W3CDTF">2026-10-08T05:01:29Z</dcterms:modified>
</cp:coreProperties>
</file>